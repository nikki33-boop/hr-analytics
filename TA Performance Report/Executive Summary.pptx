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56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Funnel Performance Review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929571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Multi-Property Hospitality Recruitment  ·  Jan–Jun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13.3% of applicants are ultimately joining (93 of 700). </a:t>
            </a: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steepest loss occurs after interview (41.1% conversion) and it is concentrated in specific recruiter, location, and department combinations, not spread evenly across the funnel.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4173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drop-off stage -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to Offer is the highest drop-off stage at 41.1%. Overall Applied to Joined conversion is 13.3%.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500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350008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and Channel -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 converts at 36.9% overall, but this is driven by one recruiter (Aditi: 20% vs. average ~42%); she performs normally (35–55%) on every other source.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826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82696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Decline in specific areas -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rates run well above the org average (14%) in Mumbai (31.4%), Finance (26.7%), and with recruiter Bhavesh (30.8% vs. 9% for other recruiter’s average); candidates aged 18–24 decline far less (4.8%) than older bands (16.7%).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153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215384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Hires -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Hires interview and get offered at rates equal to General candidates (41% each), but decline offers more often (17.5% vs 10.4%). The gap opens after the offer, not during selection.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1480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5148072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in Hiring -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Charu takes nearly 2x longer than peers to screen (9.5 vs 5 days average) and interviews (10.7 vs 7–8 days average) candidates, despite comparable conversion quality.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417320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 are specific - </a:t>
            </a: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overall conversion (13.3%) looks like a broad funnel problem, but root causes are concentrated in specific combinations, meaning targeted fixes, not an organization-wide implementation.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313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313432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 as Source cannot be ruled out - </a:t>
            </a: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Naukri and Aditi pattern is a recruiter-specific screening issue, not a source problem, cutting Naukri as a source would be the wrong response.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095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09544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Offer Checks -  </a:t>
            </a: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decline in Mumbai, Finance, and specifically Bhavesh's offers suggests a mix of compensation gaps and inconsistent offer conversations, likely an HR/comp review plus targeted recruiter coaching, not a TA process fix.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1056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105656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hiring - </a:t>
            </a: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itself shows no gap; the decline gap opens post-offer, likely compensation, relocation, or competing-offer related.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0017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5001768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hiring process - </a:t>
            </a: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Charu's slower pace reflects scheduling/workflow, not candidate quality, and is addressable through process standardization.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4173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screening for Aditi's Naukri candidates -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review or updated screening criteria for this specific recruiter–source combination.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offers in Mumbai, Finance, and with Bhavesh -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compensation and negotiation flexibility, decline rates run 2–6x the org average across all three.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Diversity Hires more after the offer -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 assistance or flexible negotiation to close the acceptance gap.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1605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recruiter scheduling more consistent -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screening/interview turnaround for all recruiters in line with the peer average (5 / 7–8 days).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50749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performance tracking -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recruiter–source and location–department gaps proactively, rather than relying on periodic manual review.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+5–6</a:t>
            </a:r>
            <a:r>
              <a:rPr lang="en-US" sz="1400" dirty="0"/>
              <a:t> -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offers from Naukri, </a:t>
            </a:r>
            <a:r>
              <a:rPr lang="en-US" sz="1350" b="1" dirty="0">
                <a:solidFill>
                  <a:srgbClr val="AA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Aditi's conversion matches the peer average (42%)</a:t>
            </a:r>
            <a:endParaRPr lang="en-US" sz="1350" b="1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+9–10</a:t>
            </a:r>
            <a:r>
              <a:rPr lang="en-US" sz="1400" dirty="0"/>
              <a:t> -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joins, Mumbai &amp; Finance, </a:t>
            </a:r>
            <a:r>
              <a:rPr lang="en-US" sz="1350" b="1" dirty="0">
                <a:solidFill>
                  <a:srgbClr val="AA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offer-acceptance matches the org average (85.6%)</a:t>
            </a:r>
            <a:endParaRPr lang="en-US" sz="1350" b="1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</a:t>
            </a:r>
            <a:r>
              <a:rPr lang="en-US" sz="1400" dirty="0"/>
              <a:t> -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Diversity Hire joins, </a:t>
            </a:r>
            <a:r>
              <a:rPr lang="en-US" sz="1350" b="1" dirty="0">
                <a:solidFill>
                  <a:srgbClr val="AA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acceptance matches the General rate (89.6%)</a:t>
            </a:r>
            <a:endParaRPr lang="en-US" sz="1350" b="1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~8–9 days - </a:t>
            </a:r>
            <a:r>
              <a:rPr lang="en-US" sz="1400" dirty="0"/>
              <a:t>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time-to-offer </a:t>
            </a:r>
            <a:r>
              <a:rPr lang="en-US" sz="1350" b="1" dirty="0">
                <a:solidFill>
                  <a:srgbClr val="AA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Charu's candidates, at average pace</a:t>
            </a:r>
            <a:endParaRPr lang="en-US" sz="135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642</Words>
  <Application>Microsoft Office PowerPoint</Application>
  <PresentationFormat>Widescreen</PresentationFormat>
  <Paragraphs>46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Nikita Singh</cp:lastModifiedBy>
  <cp:revision>4</cp:revision>
  <dcterms:created xsi:type="dcterms:W3CDTF">2026-07-15T08:14:49Z</dcterms:created>
  <dcterms:modified xsi:type="dcterms:W3CDTF">2026-07-15T08:35:12Z</dcterms:modified>
</cp:coreProperties>
</file>